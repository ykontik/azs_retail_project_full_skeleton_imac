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AZS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Retail</a:t>
            </a:r>
            <a:r>
              <a:rPr/>
              <a:t> </a:t>
            </a:r>
            <a:r>
              <a:rPr/>
              <a:t>Forecast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Финальный</a:t>
            </a:r>
            <a:r>
              <a:rPr/>
              <a:t> </a:t>
            </a:r>
            <a:r>
              <a:rPr/>
              <a:t>проект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От</a:t>
            </a:r>
            <a:r>
              <a:rPr/>
              <a:t> </a:t>
            </a:r>
            <a:r>
              <a:rPr/>
              <a:t>данных</a:t>
            </a:r>
            <a:r>
              <a:rPr/>
              <a:t> </a:t>
            </a:r>
            <a:r>
              <a:rPr/>
              <a:t>до</a:t>
            </a:r>
            <a:r>
              <a:rPr/>
              <a:t> </a:t>
            </a:r>
            <a:r>
              <a:rPr/>
              <a:t>продакшена</a:t>
            </a:r>
            <a:r>
              <a:rPr/>
              <a:t> </a:t>
            </a:r>
            <a:r>
              <a:rPr/>
              <a:t>за</a:t>
            </a:r>
            <a:r>
              <a:rPr/>
              <a:t> </a:t>
            </a:r>
            <a:r>
              <a:rPr/>
              <a:t>10</a:t>
            </a:r>
            <a:r>
              <a:rPr/>
              <a:t> </a:t>
            </a:r>
            <a:r>
              <a:rPr/>
              <a:t>минут</a:t>
            </a:r>
            <a:br/>
            <a:br/>
            <a:r>
              <a:rPr/>
              <a:t>ML</a:t>
            </a:r>
            <a:r>
              <a:rPr/>
              <a:t> </a:t>
            </a:r>
            <a:r>
              <a:rPr/>
              <a:t>Team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1)</a:t>
            </a:r>
            <a:r>
              <a:rPr/>
              <a:t> </a:t>
            </a:r>
            <a:r>
              <a:rPr/>
              <a:t>Постановка</a:t>
            </a:r>
            <a:r>
              <a:rPr/>
              <a:t> </a:t>
            </a:r>
            <a:r>
              <a:rPr/>
              <a:t>задачи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KPI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Цель: прогноз спроса per‑SKU по (store, family)</a:t>
            </a:r>
          </a:p>
          <a:p>
            <a:pPr lvl="1"/>
            <a:r>
              <a:rPr/>
              <a:t>KPI качества: MAE / MAPE / RMSE; покрытие квантилей (P50/P90)</a:t>
            </a:r>
          </a:p>
          <a:p>
            <a:pPr lvl="1"/>
            <a:r>
              <a:rPr/>
              <a:t>Бизнес‑метрики: Service Level, Stockout rate, издержки хранения</a:t>
            </a:r>
          </a:p>
          <a:p>
            <a:pPr lvl="1"/>
            <a:r>
              <a:rPr/>
              <a:t>Результат: снижение ошибки vs baseline и обоснование экономического эффекта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2)</a:t>
            </a:r>
            <a:r>
              <a:rPr/>
              <a:t> </a:t>
            </a:r>
            <a:r>
              <a:rPr/>
              <a:t>Данные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источники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train.csv — продажи (date, store_nbr, family, sales, onpromotion)</a:t>
            </a:r>
          </a:p>
          <a:p>
            <a:pPr lvl="1"/>
            <a:r>
              <a:rPr/>
              <a:t>transactions.csv — интенсивность спроса по магазинам</a:t>
            </a:r>
          </a:p>
          <a:p>
            <a:pPr lvl="1"/>
            <a:r>
              <a:rPr/>
              <a:t>oil.csv — экзогенный регрессор</a:t>
            </a:r>
          </a:p>
          <a:p>
            <a:pPr lvl="1"/>
            <a:r>
              <a:rPr/>
              <a:t>holidays_events.csv — календарные эффекты</a:t>
            </a:r>
          </a:p>
          <a:p>
            <a:pPr lvl="1"/>
            <a:r>
              <a:rPr/>
              <a:t>stores.csv — метаданные магазинов (тип/кластер)</a:t>
            </a:r>
          </a:p>
          <a:p>
            <a:pPr lvl="1"/>
            <a:r>
              <a:rPr/>
              <a:t>Хранилище: Parquet + DuckDB (data_dw/)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3)</a:t>
            </a:r>
            <a:r>
              <a:rPr/>
              <a:t> </a:t>
            </a:r>
            <a:r>
              <a:rPr/>
              <a:t>EDA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ключевые</a:t>
            </a:r>
            <a:r>
              <a:rPr/>
              <a:t> </a:t>
            </a:r>
            <a:r>
              <a:rPr/>
              <a:t>инсайты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Сезонность: по дням недели и месяцам</a:t>
            </a:r>
          </a:p>
          <a:p>
            <a:pPr lvl="1"/>
            <a:r>
              <a:rPr/>
              <a:t>Праздники: всплески/провалы спроса</a:t>
            </a:r>
          </a:p>
          <a:p>
            <a:pPr lvl="1"/>
            <a:r>
              <a:rPr/>
              <a:t>Промо: значимое влияние на продажи</a:t>
            </a:r>
          </a:p>
          <a:p>
            <a:pPr lvl="1"/>
            <a:r>
              <a:rPr/>
              <a:t>Разная дисперсия по магазинам и семействам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cs/eda_seasonality_d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803400"/>
            <a:ext cx="8229600" cy="4114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4)</a:t>
            </a:r>
            <a:r>
              <a:rPr/>
              <a:t> </a:t>
            </a:r>
            <a:r>
              <a:rPr/>
              <a:t>Feature</a:t>
            </a:r>
            <a:r>
              <a:rPr/>
              <a:t> </a:t>
            </a:r>
            <a:r>
              <a:rPr/>
              <a:t>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Лаги: sales_lag_{1,7,14,28}</a:t>
            </a:r>
          </a:p>
          <a:p>
            <a:pPr lvl="1"/>
            <a:r>
              <a:rPr/>
              <a:t>Скользящие: rollmean/rollstd {7,30}</a:t>
            </a:r>
          </a:p>
          <a:p>
            <a:pPr lvl="1"/>
            <a:r>
              <a:rPr/>
              <a:t>Промо: onpromotion + лаги/скользящие</a:t>
            </a:r>
          </a:p>
          <a:p>
            <a:pPr lvl="1"/>
            <a:r>
              <a:rPr/>
              <a:t>Экзогенные: dcoilwtico, transactions</a:t>
            </a:r>
          </a:p>
          <a:p>
            <a:pPr lvl="1"/>
            <a:r>
              <a:rPr/>
              <a:t>Календарь: year, month, day, dow, is_holiday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5)</a:t>
            </a:r>
            <a:r>
              <a:rPr/>
              <a:t> </a:t>
            </a:r>
            <a:r>
              <a:rPr/>
              <a:t>Модели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валидация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Baseline: Naive lag‑7, Moving Average(7)</a:t>
            </a:r>
          </a:p>
          <a:p>
            <a:pPr lvl="1"/>
            <a:r>
              <a:rPr/>
              <a:t>Основная: per‑SKU LightGBM (l1/tweedie/poisson)</a:t>
            </a:r>
          </a:p>
          <a:p>
            <a:pPr lvl="1"/>
            <a:r>
              <a:rPr/>
              <a:t>Альтернативы: Global CatBoost, Global/Per‑SKU XGBoost, per‑SKU RandomForest</a:t>
            </a:r>
          </a:p>
          <a:p>
            <a:pPr lvl="1"/>
            <a:r>
              <a:rPr/>
              <a:t>R&amp;D baseline: per‑SKU LSTM (окно 30, hidden 128, 2 слоя) — демонстрация нейросетевого подхода для будущего ансамбля</a:t>
            </a:r>
          </a:p>
          <a:p>
            <a:pPr lvl="1"/>
            <a:r>
              <a:rPr/>
              <a:t>Валидация: time‑series CV, окна 14–28 дней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6)</a:t>
            </a:r>
            <a:r>
              <a:rPr/>
              <a:t> </a:t>
            </a:r>
            <a:r>
              <a:rPr/>
              <a:t>Тюнинг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интерпретация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Optuna: подбор num_leaves, learning_rate, n_estimators, max_depth, regularization</a:t>
            </a:r>
          </a:p>
          <a:p>
            <a:pPr lvl="1"/>
            <a:r>
              <a:rPr/>
              <a:t>SHAP: summary/top‑features для интерпретации</a:t>
            </a:r>
          </a:p>
          <a:p>
            <a:pPr lvl="1"/>
            <a:r>
              <a:rPr/>
              <a:t>LSTM: отдельный скрипт (</a:t>
            </a:r>
            <a:r>
              <a:rPr>
                <a:latin typeface="Courier"/>
              </a:rPr>
              <a:t>experiments/train_lstm.py</a:t>
            </a:r>
            <a:r>
              <a:rPr/>
              <a:t>) с сохранением весов, скейлеров и валидационных предсказаний для UI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7)</a:t>
            </a:r>
            <a:r>
              <a:rPr/>
              <a:t> </a:t>
            </a:r>
            <a:r>
              <a:rPr/>
              <a:t>Результаты</a:t>
            </a:r>
            <a:r>
              <a:rPr/>
              <a:t> </a:t>
            </a:r>
            <a:r>
              <a:rPr/>
              <a:t>(качество)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MAE/MAPE/RMSE vs baseline (tail 28) — </a:t>
            </a:r>
            <a:r>
              <a:rPr>
                <a:latin typeface="Courier"/>
              </a:rPr>
              <a:t>data_dw/metrics_per_sku.csv</a:t>
            </a:r>
          </a:p>
          <a:p>
            <a:pPr lvl="1"/>
            <a:r>
              <a:rPr/>
              <a:t>Прирост: MAE_GAIN_vs_NAIVE, MAE_GAIN_vs_MA(7); сравнение с RF/XGB/CatBoost</a:t>
            </a:r>
          </a:p>
          <a:p>
            <a:pPr lvl="1"/>
            <a:r>
              <a:rPr/>
              <a:t>LSTM baseline: MAPE &gt;&gt; 100% (показываем как proof-of-concept, требуются гипер-подбор и регуляризация)</a:t>
            </a:r>
          </a:p>
          <a:p>
            <a:pPr lvl="1"/>
            <a:r>
              <a:rPr/>
              <a:t>Квантили: покрытие P50/P90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8)</a:t>
            </a:r>
            <a:r>
              <a:rPr/>
              <a:t> </a:t>
            </a:r>
            <a:r>
              <a:rPr/>
              <a:t>Business</a:t>
            </a:r>
            <a:r>
              <a:rPr/>
              <a:t> </a:t>
            </a:r>
            <a:r>
              <a:rPr/>
              <a:t>Impact</a:t>
            </a:r>
            <a:r>
              <a:rPr/>
              <a:t> </a:t>
            </a:r>
            <a:r>
              <a:rPr/>
              <a:t>(MAPE</a:t>
            </a:r>
            <a:r>
              <a:rPr/>
              <a:t> </a:t>
            </a:r>
            <a:r>
              <a:rPr/>
              <a:t>→</a:t>
            </a:r>
            <a:r>
              <a:rPr/>
              <a:t> </a:t>
            </a:r>
            <a:r>
              <a:rPr/>
              <a:t>деньги)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ROP/SS: расчёт per‑SKU (P50/P90 либо эвристика σ)</a:t>
            </a:r>
          </a:p>
          <a:p>
            <a:pPr lvl="1"/>
            <a:r>
              <a:rPr/>
              <a:t>Экономика: снижение out‑of‑stock/overstock</a:t>
            </a:r>
          </a:p>
          <a:p>
            <a:pPr lvl="1"/>
            <a:r>
              <a:rPr/>
              <a:t>Отчёт: data_dw/business_impact_report.csv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9)</a:t>
            </a:r>
            <a:r>
              <a:rPr/>
              <a:t> </a:t>
            </a:r>
            <a:r>
              <a:rPr/>
              <a:t>Прод:</a:t>
            </a:r>
            <a:r>
              <a:rPr/>
              <a:t> </a:t>
            </a:r>
            <a:r>
              <a:rPr/>
              <a:t>API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UI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Docker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API: FastAPI (/docs, X‑API‑Key, health‑пробы, Prometheus)</a:t>
            </a:r>
          </a:p>
          <a:p>
            <a:pPr lvl="1"/>
            <a:r>
              <a:rPr/>
              <a:t>UI: Streamlit (лидерборд ошибок, сравнение, прогнозы, ROP/SS)</a:t>
            </a:r>
          </a:p>
          <a:p>
            <a:pPr lvl="1"/>
            <a:r>
              <a:rPr/>
              <a:t>Docker Compose: api+ui, healthchecks</a:t>
            </a:r>
          </a:p>
          <a:p>
            <a:pPr lvl="0" marL="0" indent="0">
              <a:buNone/>
            </a:pPr>
            <a:r>
              <a:rPr/>
              <a:t>Скриншот Swagger: 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10)</a:t>
            </a:r>
            <a:r>
              <a:rPr/>
              <a:t> </a:t>
            </a:r>
            <a:r>
              <a:rPr/>
              <a:t>Производительность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SOTA‑бонус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Бенчмарк: latency/память (joblib)</a:t>
            </a:r>
          </a:p>
          <a:p>
            <a:pPr lvl="1"/>
            <a:r>
              <a:rPr/>
              <a:t>ONNX + INT8: экспорт и ускорение CPU‑инференса</a:t>
            </a:r>
          </a:p>
          <a:p>
            <a:pPr lvl="0" marL="0" indent="0">
              <a:buNone/>
            </a:pPr>
            <a:r>
              <a:rPr/>
              <a:t>Пример SHAP: 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11)</a:t>
            </a:r>
            <a:r>
              <a:rPr/>
              <a:t> </a:t>
            </a:r>
            <a:r>
              <a:rPr/>
              <a:t>Демо</a:t>
            </a:r>
            <a:r>
              <a:rPr/>
              <a:t> </a:t>
            </a:r>
            <a:r>
              <a:rPr/>
              <a:t>(живой</a:t>
            </a:r>
            <a:r>
              <a:rPr/>
              <a:t> </a:t>
            </a:r>
            <a:r>
              <a:rPr/>
              <a:t>сценарий)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Быстрый прогон: </a:t>
            </a:r>
            <a:r>
              <a:rPr>
                <a:latin typeface="Courier"/>
              </a:rPr>
              <a:t>python scripts/demo_presentation.py --quick</a:t>
            </a:r>
          </a:p>
          <a:p>
            <a:pPr lvl="1"/>
            <a:r>
              <a:rPr/>
              <a:t>Показать: Swagger (/docs), UI (лидерборд, сравнение), ROP/SS</a:t>
            </a:r>
          </a:p>
          <a:p>
            <a:pPr lvl="1"/>
            <a:r>
              <a:rPr/>
              <a:t>Сводки: data_dw/summary_metrics.txt, docs/model_comparison.csv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12)</a:t>
            </a:r>
            <a:r>
              <a:rPr/>
              <a:t> </a:t>
            </a:r>
            <a:r>
              <a:rPr/>
              <a:t>Ограничения</a:t>
            </a:r>
            <a:r>
              <a:rPr/>
              <a:t> </a:t>
            </a:r>
            <a:r>
              <a:rPr/>
              <a:t>и</a:t>
            </a:r>
            <a:r>
              <a:rPr/>
              <a:t> </a:t>
            </a:r>
            <a:r>
              <a:rPr/>
              <a:t>планы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Данные: шум, неполные промо, холодный старт</a:t>
            </a:r>
          </a:p>
          <a:p>
            <a:pPr lvl="1"/>
            <a:r>
              <a:rPr/>
              <a:t>Планы: больше экзогенных факторов; нейронные сети; онлайн‑обучение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AZS + Retail Forecast — Финальный проект</dc:title>
  <dc:creator>ML Team</dc:creator>
  <cp:keywords/>
  <dcterms:created xsi:type="dcterms:W3CDTF">2025-10-31T13:23:06Z</dcterms:created>
  <dcterms:modified xsi:type="dcterms:W3CDTF">2025-10-31T13:23:06Z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/>
  </property>
  <property fmtid="{D5CDD505-2E9C-101B-9397-08002B2CF9AE}" pid="3" name="subtitle">
    <vt:lpwstr>От данных до продакшена за 10 минут</vt:lpwstr>
  </property>
</Properties>
</file>